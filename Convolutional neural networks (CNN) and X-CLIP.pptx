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73" r:id="rId3"/>
    <p:sldId id="281" r:id="rId4"/>
    <p:sldId id="282" r:id="rId5"/>
    <p:sldId id="283" r:id="rId6"/>
    <p:sldId id="275" r:id="rId7"/>
    <p:sldId id="276" r:id="rId8"/>
    <p:sldId id="293" r:id="rId9"/>
    <p:sldId id="296" r:id="rId10"/>
    <p:sldId id="299" r:id="rId11"/>
    <p:sldId id="298" r:id="rId12"/>
    <p:sldId id="300" r:id="rId13"/>
    <p:sldId id="274" r:id="rId14"/>
    <p:sldId id="286" r:id="rId15"/>
    <p:sldId id="288" r:id="rId16"/>
    <p:sldId id="289" r:id="rId17"/>
    <p:sldId id="290" r:id="rId18"/>
    <p:sldId id="291" r:id="rId19"/>
    <p:sldId id="292" r:id="rId20"/>
    <p:sldId id="301" r:id="rId21"/>
    <p:sldId id="302" r:id="rId22"/>
    <p:sldId id="303" r:id="rId23"/>
    <p:sldId id="304" r:id="rId24"/>
    <p:sldId id="265" r:id="rId25"/>
    <p:sldId id="261" r:id="rId26"/>
    <p:sldId id="263" r:id="rId27"/>
    <p:sldId id="262" r:id="rId28"/>
    <p:sldId id="268" r:id="rId29"/>
    <p:sldId id="258" r:id="rId30"/>
    <p:sldId id="259" r:id="rId31"/>
    <p:sldId id="260" r:id="rId32"/>
    <p:sldId id="267" r:id="rId33"/>
    <p:sldId id="266" r:id="rId34"/>
    <p:sldId id="305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45" autoAdjust="0"/>
  </p:normalViewPr>
  <p:slideViewPr>
    <p:cSldViewPr snapToGrid="0">
      <p:cViewPr varScale="1">
        <p:scale>
          <a:sx n="83" d="100"/>
          <a:sy n="83" d="100"/>
        </p:scale>
        <p:origin x="16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BB878-6FCA-4D0A-A2AB-A628EE573244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B6FDC-393D-4AD1-8513-E6A7AB9FC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73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talking about X-CLIP model for detecting abnormal behavior on the streets with X-CLIP model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8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571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236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390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076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692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672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405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41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656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458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045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686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890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694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9515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566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492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235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7327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300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view show simple sketch puppy and his image is close.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803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view show simple sketch puppy and his image is close.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4779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883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X-CLIP model prepare eight frame and use multi-frame integration transformer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0502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1629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B6FDC-393D-4AD1-8513-E6A7AB9FC1E6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89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74479-32F5-4E1A-87F8-CAD1A04B1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175834-D766-4EC6-97E9-415C81785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98B67-9D77-4223-8EBB-03D30A93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AAAD67-FA67-40BF-8F34-6109B1BA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F82948-6A53-40DE-B177-A96AFDEB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87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0476C-8487-4CF3-961E-EE524AAC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A2FC8-6540-4FBE-B875-A69CD1254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64EC52-33ED-4E4A-ACD0-9FF88729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C6A592-2287-46E7-8748-1965EDF2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6408D-9BAD-41E9-8A45-6C8862FA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2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3B78B-2B55-4F5C-AB88-15C20FEF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87FF34-D35C-4B81-91A0-4BE1CA568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F0701-4E3C-4D52-8CF4-D2827F44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D229E-8BD3-4081-9A61-0E830E77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7763D-4F34-4CD3-B429-75A573BB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96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E7217-4D2D-4CFC-9A15-FCC678F2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7D8F2B-CACC-4BA5-B36F-554F2CE4A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F20884-FFE6-4B62-A120-E5418C6D8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615A43-6A49-4576-AE25-8C5E8333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32D926-BF72-4A81-8702-A07E581C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F4D3AD-F9B3-4250-8760-AE4B45AA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87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1EE89-C5E8-4815-8707-A3A2DA5B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230203-1824-4CA5-91C9-7284500A5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EFDE0B-899A-4E6F-9DAF-7EC56286F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339E62-B6DE-4F0A-AF5E-01295D4A4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2A2EDC-1AB7-4408-86D4-EFBA5AC77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A49329-14F5-4DA7-ADB1-42A8A46A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AFC4C7-10A6-4F6E-935B-A6983303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4A1FAF-F4EB-46D8-AB85-2FCE886B9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02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B7D3E3-298C-40CC-8FCA-BCDEB69D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00FBDB-D28B-4E30-8470-C2DFA5C4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1601FB-8B61-4B58-8F84-289DFDDC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80CC44-3622-4804-A945-D407A479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588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5313EA-7C4E-442A-9F72-A6D4A604E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FF730A-A3FF-4807-9F27-38624D52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62A433-52C8-410A-8E1D-C4EA1610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428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647E3-2FFB-4C98-9CA5-765853F6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67C5FA-9E24-4452-94F6-4747BC1AC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623FE6-AEFB-442F-9941-1FE17D821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CEA33A-0E93-4B94-A735-444032160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28BE52-E918-446B-99FB-AF9D2683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C5AF8D-20BE-41CA-8B0B-E4750655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91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E03EC-95E6-4B0B-8F6D-E0D608051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08C819E-2BEB-4AD5-BD05-87DD58037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77E5C6-1171-4CB4-9C9C-86E5B6C6B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A0A130-557E-46DF-B384-4B458BA6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C937EC-67A6-46BF-9D21-2C10F489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D349F1-4EFF-43CA-ACC4-FA64D2237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91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19FCE-A553-454A-9DC4-867C1C4B9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A6C4C4-3136-49EE-A186-49ECDCD5A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46A82-C112-4A91-8142-72F2E19E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893430-32EF-4775-BCBE-FABAA64C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59DC0-94B7-447B-8FA0-95D52EE4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60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30A6BAA-3AB4-4615-A2AC-728A10964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F76982-7E3A-44A4-939C-8C5065ABD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BC9DB-6D38-45BC-8327-F10597A4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3B7C9-372C-49FA-823F-73A90B1C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BD55B9-6B7B-4A59-B3B9-55C82BC6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637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58BFC-5DD5-4247-AA62-6216D786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9659B6-593B-43C4-A0BE-594C40C02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1877DF-FAB9-409B-9C15-513AF9AE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D5CE01-533A-4A02-93EE-8B30F4AC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686EE6-39EB-4B32-8FBF-4CC9513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92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91A63-CFFA-44D4-AF42-2C35772C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82D330-3DAD-4CD7-AFD3-2BBB17FB9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D665AF-7364-48CD-BB3F-0C531273B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0872D-0D3F-41A0-9EE1-70E04B94853A}" type="datetimeFigureOut">
              <a:rPr lang="ru-RU" smtClean="0"/>
              <a:t>19.12.2024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6F6274-A4CD-47C2-A716-417068A2A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86BB79-E440-4B06-B2C7-F1F440BC7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B1ED9-1553-4FFD-9C50-FC32C9E60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5.png"/><Relationship Id="rId7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image" Target="../media/image8.jpe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72E0CA-565F-4CF2-A553-655CEB01B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74471"/>
            <a:ext cx="9144000" cy="2035492"/>
          </a:xfrm>
        </p:spPr>
        <p:txBody>
          <a:bodyPr>
            <a:noAutofit/>
          </a:bodyPr>
          <a:lstStyle/>
          <a:p>
            <a:r>
              <a:rPr lang="ru-RU" sz="4400" dirty="0"/>
              <a:t>Распознавание агрессивного поведения на улицах с помощью модели </a:t>
            </a:r>
            <a:r>
              <a:rPr lang="en-US" sz="4400" dirty="0"/>
              <a:t>X-CLIP</a:t>
            </a:r>
            <a:endParaRPr lang="ru-RU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23637B-3641-4218-8587-832245620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8150"/>
            <a:ext cx="9144000" cy="546450"/>
          </a:xfrm>
        </p:spPr>
        <p:txBody>
          <a:bodyPr/>
          <a:lstStyle/>
          <a:p>
            <a:r>
              <a:rPr lang="en-US" sz="2400" dirty="0"/>
              <a:t>Extending Contrastive Language-Image Pre-Training (X-</a:t>
            </a:r>
            <a:r>
              <a:rPr lang="ru-RU" sz="2400" dirty="0"/>
              <a:t>С</a:t>
            </a:r>
            <a:r>
              <a:rPr lang="en-US" sz="2400" dirty="0"/>
              <a:t>LIP) model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740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2575-FA21-4ABA-842D-E7ED8567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-47030"/>
            <a:ext cx="10515600" cy="1325563"/>
          </a:xfrm>
        </p:spPr>
        <p:txBody>
          <a:bodyPr/>
          <a:lstStyle/>
          <a:p>
            <a:r>
              <a:rPr lang="ru-RU" dirty="0"/>
              <a:t>Основные этапы работы системы</a:t>
            </a:r>
          </a:p>
        </p:txBody>
      </p:sp>
      <p:pic>
        <p:nvPicPr>
          <p:cNvPr id="1030" name="Picture 6" descr="ICBJJ Blog - Iowa City BJJ | The Best Jiu-Jitsu Academy in Iowa">
            <a:extLst>
              <a:ext uri="{FF2B5EF4-FFF2-40B4-BE49-F238E27FC236}">
                <a16:creationId xmlns:a16="http://schemas.microsoft.com/office/drawing/2014/main" id="{F30D6E24-7E0A-4550-9320-7935C1022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2432">
            <a:off x="4684486" y="2249656"/>
            <a:ext cx="2159726" cy="1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367D62-4121-4F99-9205-BF2346100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467" y="3429000"/>
            <a:ext cx="1467055" cy="1543265"/>
          </a:xfrm>
          <a:prstGeom prst="rect">
            <a:avLst/>
          </a:prstGeom>
        </p:spPr>
      </p:pic>
      <p:pic>
        <p:nvPicPr>
          <p:cNvPr id="1032" name="Picture 8" descr="Is Muay Thai effective in a street fight? - Muay Thai">
            <a:extLst>
              <a:ext uri="{FF2B5EF4-FFF2-40B4-BE49-F238E27FC236}">
                <a16:creationId xmlns:a16="http://schemas.microsoft.com/office/drawing/2014/main" id="{6338BE94-C44A-4F22-AE17-05B4199D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3151">
            <a:off x="4972321" y="4352806"/>
            <a:ext cx="1498845" cy="156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Более 104 100 работ на тему «Digital Camera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92C0F7D0-D00A-461A-B447-98A60FC8E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795" y="1114612"/>
            <a:ext cx="1658989" cy="132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C109C8-BC4C-476E-B6BA-9C653F854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790"/>
            <a:ext cx="1919420" cy="19194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2575-FA21-4ABA-842D-E7ED8567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-47030"/>
            <a:ext cx="10515600" cy="1325563"/>
          </a:xfrm>
        </p:spPr>
        <p:txBody>
          <a:bodyPr/>
          <a:lstStyle/>
          <a:p>
            <a:r>
              <a:rPr lang="ru-RU" dirty="0"/>
              <a:t>Основные этапы работы системы</a:t>
            </a:r>
          </a:p>
        </p:txBody>
      </p:sp>
      <p:pic>
        <p:nvPicPr>
          <p:cNvPr id="1030" name="Picture 6" descr="ICBJJ Blog - Iowa City BJJ | The Best Jiu-Jitsu Academy in Iowa">
            <a:extLst>
              <a:ext uri="{FF2B5EF4-FFF2-40B4-BE49-F238E27FC236}">
                <a16:creationId xmlns:a16="http://schemas.microsoft.com/office/drawing/2014/main" id="{F30D6E24-7E0A-4550-9320-7935C1022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2432">
            <a:off x="4684486" y="2249656"/>
            <a:ext cx="2159726" cy="1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367D62-4121-4F99-9205-BF2346100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467" y="3429000"/>
            <a:ext cx="1467055" cy="1543265"/>
          </a:xfrm>
          <a:prstGeom prst="rect">
            <a:avLst/>
          </a:prstGeom>
        </p:spPr>
      </p:pic>
      <p:pic>
        <p:nvPicPr>
          <p:cNvPr id="1032" name="Picture 8" descr="Is Muay Thai effective in a street fight? - Muay Thai">
            <a:extLst>
              <a:ext uri="{FF2B5EF4-FFF2-40B4-BE49-F238E27FC236}">
                <a16:creationId xmlns:a16="http://schemas.microsoft.com/office/drawing/2014/main" id="{6338BE94-C44A-4F22-AE17-05B4199D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3151">
            <a:off x="4972321" y="4352806"/>
            <a:ext cx="1498845" cy="156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61554B-01D8-415F-9830-39D5864F1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95325" y="1919235"/>
            <a:ext cx="589326" cy="37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9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Более 104 100 работ на тему «Digital Camera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92C0F7D0-D00A-461A-B447-98A60FC8E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795" y="1114612"/>
            <a:ext cx="1658989" cy="132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C109C8-BC4C-476E-B6BA-9C653F854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790"/>
            <a:ext cx="1919420" cy="19194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2575-FA21-4ABA-842D-E7ED8567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-47030"/>
            <a:ext cx="10515600" cy="1325563"/>
          </a:xfrm>
        </p:spPr>
        <p:txBody>
          <a:bodyPr/>
          <a:lstStyle/>
          <a:p>
            <a:r>
              <a:rPr lang="ru-RU" dirty="0"/>
              <a:t>Основные этапы работы системы</a:t>
            </a:r>
          </a:p>
        </p:txBody>
      </p:sp>
      <p:pic>
        <p:nvPicPr>
          <p:cNvPr id="1030" name="Picture 6" descr="ICBJJ Blog - Iowa City BJJ | The Best Jiu-Jitsu Academy in Iowa">
            <a:extLst>
              <a:ext uri="{FF2B5EF4-FFF2-40B4-BE49-F238E27FC236}">
                <a16:creationId xmlns:a16="http://schemas.microsoft.com/office/drawing/2014/main" id="{F30D6E24-7E0A-4550-9320-7935C1022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2432">
            <a:off x="4684486" y="2249656"/>
            <a:ext cx="2159726" cy="1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367D62-4121-4F99-9205-BF2346100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5467" y="3429000"/>
            <a:ext cx="1467055" cy="1543265"/>
          </a:xfrm>
          <a:prstGeom prst="rect">
            <a:avLst/>
          </a:prstGeom>
        </p:spPr>
      </p:pic>
      <p:pic>
        <p:nvPicPr>
          <p:cNvPr id="1032" name="Picture 8" descr="Is Muay Thai effective in a street fight? - Muay Thai">
            <a:extLst>
              <a:ext uri="{FF2B5EF4-FFF2-40B4-BE49-F238E27FC236}">
                <a16:creationId xmlns:a16="http://schemas.microsoft.com/office/drawing/2014/main" id="{6338BE94-C44A-4F22-AE17-05B4199D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3151">
            <a:off x="4972321" y="4352806"/>
            <a:ext cx="1498845" cy="156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61554B-01D8-415F-9830-39D5864F15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95325" y="1919235"/>
            <a:ext cx="589326" cy="3781370"/>
          </a:xfrm>
          <a:prstGeom prst="rect">
            <a:avLst/>
          </a:prstGeom>
        </p:spPr>
      </p:pic>
      <p:pic>
        <p:nvPicPr>
          <p:cNvPr id="1034" name="Picture 10" descr="Why Phone Fraud Starts With A Silent Call : All Tech Considered : NPR">
            <a:extLst>
              <a:ext uri="{FF2B5EF4-FFF2-40B4-BE49-F238E27FC236}">
                <a16:creationId xmlns:a16="http://schemas.microsoft.com/office/drawing/2014/main" id="{E640DF7B-41A6-45FE-9AC2-15D47F208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27" y="1919235"/>
            <a:ext cx="1356590" cy="90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14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Более 104 100 работ на тему «Digital Camera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92C0F7D0-D00A-461A-B447-98A60FC8E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795" y="1114612"/>
            <a:ext cx="1658989" cy="132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C109C8-BC4C-476E-B6BA-9C653F854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790"/>
            <a:ext cx="1919420" cy="19194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2575-FA21-4ABA-842D-E7ED8567F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-47030"/>
            <a:ext cx="10515600" cy="1325563"/>
          </a:xfrm>
        </p:spPr>
        <p:txBody>
          <a:bodyPr/>
          <a:lstStyle/>
          <a:p>
            <a:r>
              <a:rPr lang="ru-RU" dirty="0"/>
              <a:t>Основные этапы работы системы</a:t>
            </a:r>
          </a:p>
        </p:txBody>
      </p:sp>
      <p:pic>
        <p:nvPicPr>
          <p:cNvPr id="1026" name="Picture 2" descr="Skoda Octavia III 2012 Policie CR - die cast - готовая коллекционная модель  - Abrex 143ABX026XX">
            <a:extLst>
              <a:ext uri="{FF2B5EF4-FFF2-40B4-BE49-F238E27FC236}">
                <a16:creationId xmlns:a16="http://schemas.microsoft.com/office/drawing/2014/main" id="{16D66FCB-5F00-48E7-BCEE-F1D287AC1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63014">
            <a:off x="8386168" y="1210292"/>
            <a:ext cx="2571015" cy="1714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CBJJ Blog - Iowa City BJJ | The Best Jiu-Jitsu Academy in Iowa">
            <a:extLst>
              <a:ext uri="{FF2B5EF4-FFF2-40B4-BE49-F238E27FC236}">
                <a16:creationId xmlns:a16="http://schemas.microsoft.com/office/drawing/2014/main" id="{F30D6E24-7E0A-4550-9320-7935C1022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2432">
            <a:off x="4684486" y="2249656"/>
            <a:ext cx="2159726" cy="1594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4367D62-4121-4F99-9205-BF2346100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5467" y="3429000"/>
            <a:ext cx="1467055" cy="1543265"/>
          </a:xfrm>
          <a:prstGeom prst="rect">
            <a:avLst/>
          </a:prstGeom>
        </p:spPr>
      </p:pic>
      <p:pic>
        <p:nvPicPr>
          <p:cNvPr id="1032" name="Picture 8" descr="Is Muay Thai effective in a street fight? - Muay Thai">
            <a:extLst>
              <a:ext uri="{FF2B5EF4-FFF2-40B4-BE49-F238E27FC236}">
                <a16:creationId xmlns:a16="http://schemas.microsoft.com/office/drawing/2014/main" id="{6338BE94-C44A-4F22-AE17-05B4199D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43151">
            <a:off x="4972321" y="4352806"/>
            <a:ext cx="1498845" cy="156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y Phone Fraud Starts With A Silent Call : All Tech Considered : NPR">
            <a:extLst>
              <a:ext uri="{FF2B5EF4-FFF2-40B4-BE49-F238E27FC236}">
                <a16:creationId xmlns:a16="http://schemas.microsoft.com/office/drawing/2014/main" id="{E640DF7B-41A6-45FE-9AC2-15D47F208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26" y="1919235"/>
            <a:ext cx="930783" cy="62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lice cars then and now (photos) - CNET">
            <a:extLst>
              <a:ext uri="{FF2B5EF4-FFF2-40B4-BE49-F238E27FC236}">
                <a16:creationId xmlns:a16="http://schemas.microsoft.com/office/drawing/2014/main" id="{886CB599-5528-42E5-B50F-C7BB89F04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621" y="3981775"/>
            <a:ext cx="2859404" cy="199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61554B-01D8-415F-9830-39D5864F15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95325" y="1919235"/>
            <a:ext cx="589326" cy="378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73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098" y="-125311"/>
            <a:ext cx="10515600" cy="1325563"/>
          </a:xfrm>
        </p:spPr>
        <p:txBody>
          <a:bodyPr/>
          <a:lstStyle/>
          <a:p>
            <a:r>
              <a:rPr lang="ru-RU" dirty="0"/>
              <a:t>Основы трансформеров</a:t>
            </a:r>
            <a:r>
              <a:rPr lang="en-US" dirty="0"/>
              <a:t> (Transformers)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561" y="1200252"/>
            <a:ext cx="6157231" cy="2561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dirty="0"/>
              <a:t>Предварительная обработка</a:t>
            </a:r>
          </a:p>
          <a:p>
            <a:endParaRPr lang="en-US" dirty="0"/>
          </a:p>
          <a:p>
            <a:r>
              <a:rPr lang="ru-RU" dirty="0" err="1"/>
              <a:t>Энкодер</a:t>
            </a:r>
            <a:endParaRPr lang="ru-RU" dirty="0"/>
          </a:p>
          <a:p>
            <a:endParaRPr lang="ru-RU" dirty="0"/>
          </a:p>
          <a:p>
            <a:r>
              <a:rPr lang="ru-RU" dirty="0"/>
              <a:t>Декодер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687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302" y="91212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098" y="2188392"/>
            <a:ext cx="61572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b="1" dirty="0" err="1"/>
              <a:t>Токенизация</a:t>
            </a:r>
            <a:r>
              <a:rPr lang="ru-RU" b="1" dirty="0"/>
              <a:t> текста</a:t>
            </a:r>
            <a:endParaRPr lang="en-US" b="1" dirty="0"/>
          </a:p>
          <a:p>
            <a:r>
              <a:rPr lang="en-US" dirty="0"/>
              <a:t>Embedding-layer</a:t>
            </a:r>
            <a:endParaRPr lang="ru-RU" dirty="0"/>
          </a:p>
          <a:p>
            <a:r>
              <a:rPr lang="ru-RU" dirty="0"/>
              <a:t>Добавление информации о позиции</a:t>
            </a:r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59793A-9276-4A2B-B176-3FCED96A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891" y="5048355"/>
            <a:ext cx="6919882" cy="61914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970098" y="7539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Предварительная обработка</a:t>
            </a:r>
          </a:p>
        </p:txBody>
      </p:sp>
    </p:spTree>
    <p:extLst>
      <p:ext uri="{BB962C8B-B14F-4D97-AF65-F5344CB8AC3E}">
        <p14:creationId xmlns:p14="http://schemas.microsoft.com/office/powerpoint/2010/main" val="288961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302" y="91212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098" y="2188392"/>
            <a:ext cx="61572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dirty="0" err="1"/>
              <a:t>Токенизация</a:t>
            </a:r>
            <a:r>
              <a:rPr lang="ru-RU" dirty="0"/>
              <a:t> текста</a:t>
            </a:r>
            <a:endParaRPr lang="en-US" dirty="0"/>
          </a:p>
          <a:p>
            <a:r>
              <a:rPr lang="en-US" b="1" dirty="0"/>
              <a:t>Embedding-layer</a:t>
            </a:r>
            <a:endParaRPr lang="ru-RU" b="1" dirty="0"/>
          </a:p>
          <a:p>
            <a:r>
              <a:rPr lang="ru-RU" dirty="0"/>
              <a:t>Добавление информации о позиции</a:t>
            </a:r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970098" y="7539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Предварительная обработка</a:t>
            </a:r>
          </a:p>
        </p:txBody>
      </p:sp>
      <p:pic>
        <p:nvPicPr>
          <p:cNvPr id="7" name="Picture 2" descr="Word embeddings | Text | TensorFlow">
            <a:extLst>
              <a:ext uri="{FF2B5EF4-FFF2-40B4-BE49-F238E27FC236}">
                <a16:creationId xmlns:a16="http://schemas.microsoft.com/office/drawing/2014/main" id="{FB7FF617-F7B8-448A-B453-0E54B85A6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210" y="1785790"/>
            <a:ext cx="6157231" cy="467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665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0CED98-1737-49D6-89AB-E7331B5A9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734" y="1299258"/>
            <a:ext cx="7411655" cy="555874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12"/>
            <a:ext cx="3302151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458" y="2079557"/>
            <a:ext cx="4545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dirty="0" err="1"/>
              <a:t>Токенизация</a:t>
            </a:r>
            <a:r>
              <a:rPr lang="ru-RU" dirty="0"/>
              <a:t> текста</a:t>
            </a:r>
            <a:endParaRPr lang="en-US" dirty="0"/>
          </a:p>
          <a:p>
            <a:r>
              <a:rPr lang="en-US" dirty="0"/>
              <a:t>Embedding-layer</a:t>
            </a:r>
            <a:endParaRPr lang="ru-RU" dirty="0"/>
          </a:p>
          <a:p>
            <a:r>
              <a:rPr lang="ru-RU" b="1" dirty="0"/>
              <a:t>Добавление информации о позиции</a:t>
            </a:r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63796" y="753994"/>
            <a:ext cx="51259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Предварительная обработка</a:t>
            </a:r>
          </a:p>
        </p:txBody>
      </p:sp>
    </p:spTree>
    <p:extLst>
      <p:ext uri="{BB962C8B-B14F-4D97-AF65-F5344CB8AC3E}">
        <p14:creationId xmlns:p14="http://schemas.microsoft.com/office/powerpoint/2010/main" val="32468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FB1B95-6A81-4309-9E53-C5A12FAC0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9" y="1347327"/>
            <a:ext cx="7365356" cy="552401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12"/>
            <a:ext cx="3302151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458" y="2079557"/>
            <a:ext cx="4545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dirty="0" err="1"/>
              <a:t>Токенизация</a:t>
            </a:r>
            <a:r>
              <a:rPr lang="ru-RU" dirty="0"/>
              <a:t> текста</a:t>
            </a:r>
            <a:endParaRPr lang="en-US" dirty="0"/>
          </a:p>
          <a:p>
            <a:r>
              <a:rPr lang="en-US" dirty="0"/>
              <a:t>Embedding-layer</a:t>
            </a:r>
            <a:endParaRPr lang="ru-RU" dirty="0"/>
          </a:p>
          <a:p>
            <a:r>
              <a:rPr lang="ru-RU" b="1" dirty="0"/>
              <a:t>Добавление информации о позиции</a:t>
            </a:r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63796" y="753994"/>
            <a:ext cx="51259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Предварительная обработка</a:t>
            </a:r>
          </a:p>
        </p:txBody>
      </p:sp>
    </p:spTree>
    <p:extLst>
      <p:ext uri="{BB962C8B-B14F-4D97-AF65-F5344CB8AC3E}">
        <p14:creationId xmlns:p14="http://schemas.microsoft.com/office/powerpoint/2010/main" val="29379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64E61BA-5563-4108-9FBC-94DF079E5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451" y="1342665"/>
            <a:ext cx="7415514" cy="556163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212"/>
            <a:ext cx="3302151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458" y="2079557"/>
            <a:ext cx="4545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ru-RU" dirty="0" err="1"/>
              <a:t>Токенизация</a:t>
            </a:r>
            <a:r>
              <a:rPr lang="ru-RU" dirty="0"/>
              <a:t> текста</a:t>
            </a:r>
            <a:endParaRPr lang="en-US" dirty="0"/>
          </a:p>
          <a:p>
            <a:r>
              <a:rPr lang="en-US" dirty="0"/>
              <a:t>Embedding-layer</a:t>
            </a:r>
            <a:endParaRPr lang="ru-RU" dirty="0"/>
          </a:p>
          <a:p>
            <a:r>
              <a:rPr lang="ru-RU" b="1" dirty="0"/>
              <a:t>Добавление информации о позиции</a:t>
            </a:r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63796" y="753994"/>
            <a:ext cx="51259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Предварительная обработка</a:t>
            </a:r>
          </a:p>
        </p:txBody>
      </p:sp>
    </p:spTree>
    <p:extLst>
      <p:ext uri="{BB962C8B-B14F-4D97-AF65-F5344CB8AC3E}">
        <p14:creationId xmlns:p14="http://schemas.microsoft.com/office/powerpoint/2010/main" val="1209302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819D-4AF5-4645-85CC-67D16786477C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Self-Attention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Multi-Head 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Feedforward </a:t>
            </a:r>
            <a:r>
              <a:rPr lang="ru-RU" sz="2800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3834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8FC030-7CDC-4256-B02D-1F29652B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556" y="1272898"/>
            <a:ext cx="6385016" cy="880140"/>
          </a:xfrm>
          <a:prstGeom prst="rect">
            <a:avLst/>
          </a:prstGeom>
        </p:spPr>
      </p:pic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444" y="2339651"/>
            <a:ext cx="5638354" cy="4351338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6C4B966E-3EEE-493E-A640-65347E02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15" name="AutoShape 2" descr="lenet architecture">
            <a:extLst>
              <a:ext uri="{FF2B5EF4-FFF2-40B4-BE49-F238E27FC236}">
                <a16:creationId xmlns:a16="http://schemas.microsoft.com/office/drawing/2014/main" id="{26F44AE1-709D-4504-B0A3-00416E71F8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D432FD27-2FE5-44B4-AFEF-FD8BC516121B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E73AC2-72B1-48CF-96D5-0B00C0BD99B4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Self-Attention</a:t>
            </a:r>
            <a:endParaRPr lang="ru-RU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Multi-Head 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Feedforward </a:t>
            </a:r>
            <a:r>
              <a:rPr lang="ru-RU" sz="2800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3028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8FC030-7CDC-4256-B02D-1F29652B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3908"/>
            <a:ext cx="6385016" cy="8801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89" y="139942"/>
            <a:ext cx="10515600" cy="1325563"/>
          </a:xfrm>
        </p:spPr>
        <p:txBody>
          <a:bodyPr/>
          <a:lstStyle/>
          <a:p>
            <a:r>
              <a:rPr lang="en-US" b="1" dirty="0"/>
              <a:t>Self-Attention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" y="2420674"/>
            <a:ext cx="5638354" cy="43513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283BA5-3858-4CCD-B89A-C63CAA99E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925" y="2947791"/>
            <a:ext cx="3146664" cy="19441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57D64A-9743-42B7-A93B-EDB0DFA92D82}"/>
              </a:ext>
            </a:extLst>
          </p:cNvPr>
          <p:cNvSpPr txBox="1"/>
          <p:nvPr/>
        </p:nvSpPr>
        <p:spPr>
          <a:xfrm>
            <a:off x="7807558" y="2363016"/>
            <a:ext cx="3353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1. Входной тензор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AACD03F-CBF6-40EE-88FD-F335A45786A1}"/>
              </a:ext>
            </a:extLst>
          </p:cNvPr>
          <p:cNvSpPr/>
          <p:nvPr/>
        </p:nvSpPr>
        <p:spPr>
          <a:xfrm>
            <a:off x="232989" y="3429000"/>
            <a:ext cx="959203" cy="17680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29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1658097-FAAF-4C05-8975-B4A777992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196" y="4589447"/>
            <a:ext cx="2672212" cy="14644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4" y="1888239"/>
            <a:ext cx="5638354" cy="43513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C0700A4-5B9E-4BE8-BB48-DBC6B921E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987" y="1268680"/>
            <a:ext cx="4143316" cy="1362187"/>
          </a:xfrm>
          <a:prstGeom prst="rect">
            <a:avLst/>
          </a:prstGeom>
        </p:spPr>
      </p:pic>
      <p:sp>
        <p:nvSpPr>
          <p:cNvPr id="10" name="AutoShape 2" descr="lenet architecture">
            <a:extLst>
              <a:ext uri="{FF2B5EF4-FFF2-40B4-BE49-F238E27FC236}">
                <a16:creationId xmlns:a16="http://schemas.microsoft.com/office/drawing/2014/main" id="{7A5E42E2-970E-4B73-B807-7C4EC9B59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36056" y="2806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3B208B1-B6D5-416C-8056-7B2E168CE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336" y="2338972"/>
            <a:ext cx="3146664" cy="19441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81EC66-F908-4E90-A191-4AC3DAB1CE17}"/>
              </a:ext>
            </a:extLst>
          </p:cNvPr>
          <p:cNvSpPr txBox="1"/>
          <p:nvPr/>
        </p:nvSpPr>
        <p:spPr>
          <a:xfrm>
            <a:off x="6822302" y="777998"/>
            <a:ext cx="5095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</a:t>
            </a:r>
            <a:r>
              <a:rPr lang="ru-RU" sz="3200" dirty="0"/>
              <a:t>. Вычисление матриц КУКВ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1646C3B3-F867-46C7-A4B1-2714A648AE4B}"/>
              </a:ext>
            </a:extLst>
          </p:cNvPr>
          <p:cNvSpPr txBox="1">
            <a:spLocks/>
          </p:cNvSpPr>
          <p:nvPr/>
        </p:nvSpPr>
        <p:spPr>
          <a:xfrm>
            <a:off x="232989" y="13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Self-Attention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408A4C-2391-4485-84AA-E34CA8BD7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8672" y="2806104"/>
            <a:ext cx="3146664" cy="109767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F0E2015-6EFF-436A-8705-077931CD6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9230" y="4595159"/>
            <a:ext cx="2672212" cy="1502131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756E6B0-ED2D-4FDB-8CC3-EA793111F7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2555" y="4538764"/>
            <a:ext cx="2405901" cy="1614920"/>
          </a:xfrm>
          <a:prstGeom prst="rect">
            <a:avLst/>
          </a:prstGeom>
        </p:spPr>
      </p:pic>
      <p:sp>
        <p:nvSpPr>
          <p:cNvPr id="31" name="Овал 30">
            <a:extLst>
              <a:ext uri="{FF2B5EF4-FFF2-40B4-BE49-F238E27FC236}">
                <a16:creationId xmlns:a16="http://schemas.microsoft.com/office/drawing/2014/main" id="{3EC8944F-B888-40EB-B3AA-B82FD104DA41}"/>
              </a:ext>
            </a:extLst>
          </p:cNvPr>
          <p:cNvSpPr/>
          <p:nvPr/>
        </p:nvSpPr>
        <p:spPr>
          <a:xfrm>
            <a:off x="1076446" y="1702542"/>
            <a:ext cx="1058712" cy="43513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84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3D95C58-BD73-430E-8612-16CF78D8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16" y="3264108"/>
            <a:ext cx="4749830" cy="1599599"/>
          </a:xfrm>
          <a:prstGeom prst="rect">
            <a:avLst/>
          </a:prstGeom>
        </p:spPr>
      </p:pic>
      <p:sp>
        <p:nvSpPr>
          <p:cNvPr id="10" name="AutoShape 2" descr="lenet architecture">
            <a:extLst>
              <a:ext uri="{FF2B5EF4-FFF2-40B4-BE49-F238E27FC236}">
                <a16:creationId xmlns:a16="http://schemas.microsoft.com/office/drawing/2014/main" id="{7A5E42E2-970E-4B73-B807-7C4EC9B59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36056" y="2806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1EC66-F908-4E90-A191-4AC3DAB1CE17}"/>
              </a:ext>
            </a:extLst>
          </p:cNvPr>
          <p:cNvSpPr txBox="1"/>
          <p:nvPr/>
        </p:nvSpPr>
        <p:spPr>
          <a:xfrm>
            <a:off x="7623776" y="382011"/>
            <a:ext cx="3993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3. Матрица внимания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21237E-1E71-49D3-BA6F-8B6C9597A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8099"/>
            <a:ext cx="6385016" cy="8801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4" y="1888239"/>
            <a:ext cx="5638354" cy="435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B0C77A-5C7C-4A0E-80F9-FA20A0AE8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915" y="1200252"/>
            <a:ext cx="3235333" cy="844000"/>
          </a:xfrm>
          <a:prstGeom prst="rect">
            <a:avLst/>
          </a:prstGeom>
        </p:spPr>
      </p:pic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15FE9FF5-5726-4A7B-B7A8-A55EDAC3B873}"/>
              </a:ext>
            </a:extLst>
          </p:cNvPr>
          <p:cNvSpPr txBox="1">
            <a:spLocks/>
          </p:cNvSpPr>
          <p:nvPr/>
        </p:nvSpPr>
        <p:spPr>
          <a:xfrm>
            <a:off x="232989" y="13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Self-Attention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3DEF69B-589C-449F-9F88-42399F7183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097" y="1966148"/>
            <a:ext cx="5410160" cy="158049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15BA14B-E85A-411E-B646-435334BED4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766500"/>
            <a:ext cx="5804606" cy="1735185"/>
          </a:xfrm>
          <a:prstGeom prst="rect">
            <a:avLst/>
          </a:prstGeom>
        </p:spPr>
      </p:pic>
      <p:sp>
        <p:nvSpPr>
          <p:cNvPr id="30" name="Овал 29">
            <a:extLst>
              <a:ext uri="{FF2B5EF4-FFF2-40B4-BE49-F238E27FC236}">
                <a16:creationId xmlns:a16="http://schemas.microsoft.com/office/drawing/2014/main" id="{793C5F35-7B68-48AB-8112-E202AC6A7E29}"/>
              </a:ext>
            </a:extLst>
          </p:cNvPr>
          <p:cNvSpPr/>
          <p:nvPr/>
        </p:nvSpPr>
        <p:spPr>
          <a:xfrm rot="15639116">
            <a:off x="1693166" y="1601901"/>
            <a:ext cx="1626217" cy="26695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546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D900AA-31E2-4FA5-9977-2C2D57D9F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16" y="3418540"/>
            <a:ext cx="5004972" cy="1497550"/>
          </a:xfrm>
          <a:prstGeom prst="rect">
            <a:avLst/>
          </a:prstGeom>
        </p:spPr>
      </p:pic>
      <p:sp>
        <p:nvSpPr>
          <p:cNvPr id="10" name="AutoShape 2" descr="lenet architecture">
            <a:extLst>
              <a:ext uri="{FF2B5EF4-FFF2-40B4-BE49-F238E27FC236}">
                <a16:creationId xmlns:a16="http://schemas.microsoft.com/office/drawing/2014/main" id="{7A5E42E2-970E-4B73-B807-7C4EC9B59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36056" y="2806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1EC66-F908-4E90-A191-4AC3DAB1CE17}"/>
              </a:ext>
            </a:extLst>
          </p:cNvPr>
          <p:cNvSpPr txBox="1"/>
          <p:nvPr/>
        </p:nvSpPr>
        <p:spPr>
          <a:xfrm>
            <a:off x="7670075" y="788036"/>
            <a:ext cx="22673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4. </a:t>
            </a:r>
            <a:r>
              <a:rPr lang="ru-RU" sz="3200" dirty="0" err="1"/>
              <a:t>Софтмакс</a:t>
            </a:r>
            <a:endParaRPr lang="ru-RU" sz="3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21237E-1E71-49D3-BA6F-8B6C9597A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8099"/>
            <a:ext cx="6385016" cy="8801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4" y="1888239"/>
            <a:ext cx="5638354" cy="4351338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97B46446-16ED-42A6-A12D-03F549E8AFF1}"/>
              </a:ext>
            </a:extLst>
          </p:cNvPr>
          <p:cNvSpPr txBox="1">
            <a:spLocks/>
          </p:cNvSpPr>
          <p:nvPr/>
        </p:nvSpPr>
        <p:spPr>
          <a:xfrm>
            <a:off x="232989" y="13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Self-Attention</a:t>
            </a:r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72794DB-2956-4A23-9B39-6FFE1AA556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139" y="1570485"/>
            <a:ext cx="5800725" cy="174307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32E763A-3B25-4E67-B6D0-3257CF95DB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811110"/>
            <a:ext cx="5724802" cy="1743075"/>
          </a:xfrm>
          <a:prstGeom prst="rect">
            <a:avLst/>
          </a:prstGeom>
        </p:spPr>
      </p:pic>
      <p:sp>
        <p:nvSpPr>
          <p:cNvPr id="32" name="Овал 31">
            <a:extLst>
              <a:ext uri="{FF2B5EF4-FFF2-40B4-BE49-F238E27FC236}">
                <a16:creationId xmlns:a16="http://schemas.microsoft.com/office/drawing/2014/main" id="{8DB53750-E5FD-43FF-BF52-621D73D74656}"/>
              </a:ext>
            </a:extLst>
          </p:cNvPr>
          <p:cNvSpPr/>
          <p:nvPr/>
        </p:nvSpPr>
        <p:spPr>
          <a:xfrm>
            <a:off x="2720051" y="2534856"/>
            <a:ext cx="868101" cy="21413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316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EC0282F-BC0B-463E-B60F-82987C70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242" y="2527420"/>
            <a:ext cx="3357929" cy="1652315"/>
          </a:xfrm>
          <a:prstGeom prst="rect">
            <a:avLst/>
          </a:prstGeom>
        </p:spPr>
      </p:pic>
      <p:sp>
        <p:nvSpPr>
          <p:cNvPr id="10" name="AutoShape 2" descr="lenet architecture">
            <a:extLst>
              <a:ext uri="{FF2B5EF4-FFF2-40B4-BE49-F238E27FC236}">
                <a16:creationId xmlns:a16="http://schemas.microsoft.com/office/drawing/2014/main" id="{7A5E42E2-970E-4B73-B807-7C4EC9B59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36056" y="2806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1EC66-F908-4E90-A191-4AC3DAB1CE17}"/>
              </a:ext>
            </a:extLst>
          </p:cNvPr>
          <p:cNvSpPr txBox="1"/>
          <p:nvPr/>
        </p:nvSpPr>
        <p:spPr>
          <a:xfrm>
            <a:off x="7623776" y="382011"/>
            <a:ext cx="3355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5. Альфу на валуе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21237E-1E71-49D3-BA6F-8B6C9597A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8099"/>
            <a:ext cx="6385016" cy="8801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4" y="1888239"/>
            <a:ext cx="5638354" cy="4351338"/>
          </a:xfrm>
          <a:prstGeom prst="rect">
            <a:avLst/>
          </a:pr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E609E174-62EF-4CBF-BE8C-D3539F58D692}"/>
              </a:ext>
            </a:extLst>
          </p:cNvPr>
          <p:cNvSpPr txBox="1">
            <a:spLocks/>
          </p:cNvSpPr>
          <p:nvPr/>
        </p:nvSpPr>
        <p:spPr>
          <a:xfrm>
            <a:off x="232989" y="13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Self-Attention</a:t>
            </a:r>
            <a:endParaRPr lang="ru-RU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16B1FBD-023D-4A6F-8234-0EC9569CA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7287" y="878636"/>
            <a:ext cx="5881264" cy="179963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ADC34F1-D5C5-4935-862A-CEC4E65588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285128"/>
            <a:ext cx="5685669" cy="1954449"/>
          </a:xfrm>
          <a:prstGeom prst="rect">
            <a:avLst/>
          </a:prstGeom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EEFAD28-90CA-446D-B5CC-BC98748E4F88}"/>
              </a:ext>
            </a:extLst>
          </p:cNvPr>
          <p:cNvSpPr/>
          <p:nvPr/>
        </p:nvSpPr>
        <p:spPr>
          <a:xfrm>
            <a:off x="1111170" y="4285128"/>
            <a:ext cx="2627453" cy="125914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720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40B2FFE-9894-4824-8A21-260B9B672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581" y="4929917"/>
            <a:ext cx="3277419" cy="129941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4048968-17BE-4928-A678-685DC36E8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8084" y="1511980"/>
            <a:ext cx="5685669" cy="1954449"/>
          </a:xfrm>
          <a:prstGeom prst="rect">
            <a:avLst/>
          </a:prstGeom>
        </p:spPr>
      </p:pic>
      <p:sp>
        <p:nvSpPr>
          <p:cNvPr id="10" name="AutoShape 2" descr="lenet architecture">
            <a:extLst>
              <a:ext uri="{FF2B5EF4-FFF2-40B4-BE49-F238E27FC236}">
                <a16:creationId xmlns:a16="http://schemas.microsoft.com/office/drawing/2014/main" id="{7A5E42E2-970E-4B73-B807-7C4EC9B59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36056" y="280610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1EC66-F908-4E90-A191-4AC3DAB1CE17}"/>
              </a:ext>
            </a:extLst>
          </p:cNvPr>
          <p:cNvSpPr txBox="1"/>
          <p:nvPr/>
        </p:nvSpPr>
        <p:spPr>
          <a:xfrm>
            <a:off x="7623776" y="382011"/>
            <a:ext cx="31488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6. Что за </a:t>
            </a:r>
            <a:r>
              <a:rPr lang="ru-RU" sz="3200" dirty="0" err="1"/>
              <a:t>игрики</a:t>
            </a:r>
            <a:r>
              <a:rPr lang="ru-RU" sz="3200" dirty="0"/>
              <a:t>?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721237E-1E71-49D3-BA6F-8B6C9597A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08099"/>
            <a:ext cx="6385016" cy="88014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80AAF5-B54E-48D4-A468-FE972B5CA1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44" y="1888239"/>
            <a:ext cx="5638354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1CB1DD-D384-4D04-992B-767DCC16296A}"/>
              </a:ext>
            </a:extLst>
          </p:cNvPr>
          <p:cNvSpPr txBox="1"/>
          <p:nvPr/>
        </p:nvSpPr>
        <p:spPr>
          <a:xfrm>
            <a:off x="6709622" y="966786"/>
            <a:ext cx="5638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– </a:t>
            </a:r>
            <a:r>
              <a:rPr lang="ru-RU" dirty="0"/>
              <a:t>обучаемый параметр, который изначально = 1. Изменяется в процессе обучения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70FFE5-472B-4B4D-9E2A-B1791C5DC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084" y="3432130"/>
            <a:ext cx="5252995" cy="983706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80C3520A-4C02-4956-8453-55021D5A4904}"/>
              </a:ext>
            </a:extLst>
          </p:cNvPr>
          <p:cNvSpPr txBox="1">
            <a:spLocks/>
          </p:cNvSpPr>
          <p:nvPr/>
        </p:nvSpPr>
        <p:spPr>
          <a:xfrm>
            <a:off x="232989" y="13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Self-Attention</a:t>
            </a:r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4398D37-4B5A-44BF-BF21-B6402891C3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8946" y="4969762"/>
            <a:ext cx="3230988" cy="1164820"/>
          </a:xfrm>
          <a:prstGeom prst="rect">
            <a:avLst/>
          </a:prstGeom>
        </p:spPr>
      </p:pic>
      <p:sp>
        <p:nvSpPr>
          <p:cNvPr id="30" name="Овал 29">
            <a:extLst>
              <a:ext uri="{FF2B5EF4-FFF2-40B4-BE49-F238E27FC236}">
                <a16:creationId xmlns:a16="http://schemas.microsoft.com/office/drawing/2014/main" id="{4F1B8FD4-B9AE-4505-8467-FE05BDFD9431}"/>
              </a:ext>
            </a:extLst>
          </p:cNvPr>
          <p:cNvSpPr/>
          <p:nvPr/>
        </p:nvSpPr>
        <p:spPr>
          <a:xfrm>
            <a:off x="3739477" y="1888239"/>
            <a:ext cx="1414055" cy="353027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797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819D-4AF5-4645-85CC-67D16786477C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Self-Attention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Multi-Head Attention</a:t>
            </a:r>
            <a:endParaRPr lang="ru-RU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Feedforward </a:t>
            </a:r>
            <a:r>
              <a:rPr lang="ru-RU" sz="2800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47A22A-5FA9-4BC7-8BA6-0D896E1CA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882" y="1631944"/>
            <a:ext cx="4211279" cy="503656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0B856B5-A14F-4109-AD10-B00B51BF6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5814" y="2734650"/>
            <a:ext cx="2937116" cy="36961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999BB9-CBE2-4738-9CD5-23A3A8CAE8C1}"/>
              </a:ext>
            </a:extLst>
          </p:cNvPr>
          <p:cNvSpPr txBox="1"/>
          <p:nvPr/>
        </p:nvSpPr>
        <p:spPr>
          <a:xfrm>
            <a:off x="5580905" y="172876"/>
            <a:ext cx="62213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Механизм </a:t>
            </a:r>
            <a:r>
              <a:rPr lang="ru-RU" b="1" dirty="0"/>
              <a:t>Multi-Head </a:t>
            </a:r>
            <a:r>
              <a:rPr lang="ru-RU" b="1" dirty="0" err="1"/>
              <a:t>Attention</a:t>
            </a:r>
            <a:r>
              <a:rPr lang="ru-RU" dirty="0"/>
              <a:t> был введен для того, чтобы улучшить способность модели к обработке информации из разных "представлений" или "подпространств" данных</a:t>
            </a:r>
            <a:r>
              <a:rPr lang="en-US" dirty="0"/>
              <a:t>, </a:t>
            </a:r>
            <a:r>
              <a:rPr lang="ru-RU" dirty="0"/>
              <a:t>например, грамматических, в то время как другая голова на семантических или лексических связях</a:t>
            </a:r>
          </a:p>
        </p:txBody>
      </p:sp>
    </p:spTree>
    <p:extLst>
      <p:ext uri="{BB962C8B-B14F-4D97-AF65-F5344CB8AC3E}">
        <p14:creationId xmlns:p14="http://schemas.microsoft.com/office/powerpoint/2010/main" val="1281301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819D-4AF5-4645-85CC-67D16786477C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Self-Attention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Multi-Head 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Feedforward </a:t>
            </a:r>
            <a:r>
              <a:rPr lang="ru-RU" sz="2800" b="1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E5F94-E7EC-4853-99AD-825ED77EBA28}"/>
              </a:ext>
            </a:extLst>
          </p:cNvPr>
          <p:cNvSpPr txBox="1"/>
          <p:nvPr/>
        </p:nvSpPr>
        <p:spPr>
          <a:xfrm>
            <a:off x="5257800" y="566882"/>
            <a:ext cx="62213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Feedforward</a:t>
            </a:r>
            <a:r>
              <a:rPr lang="ru-RU" b="1" dirty="0"/>
              <a:t> слой</a:t>
            </a:r>
            <a:r>
              <a:rPr lang="ru-RU" dirty="0"/>
              <a:t> — этот слой является основным строительным элементом нейронных сетей и помогает моделям обучаться и обрабатывать данные более эффективно.</a:t>
            </a:r>
          </a:p>
        </p:txBody>
      </p:sp>
      <p:pic>
        <p:nvPicPr>
          <p:cNvPr id="2052" name="Picture 4" descr="feedforwardnet">
            <a:extLst>
              <a:ext uri="{FF2B5EF4-FFF2-40B4-BE49-F238E27FC236}">
                <a16:creationId xmlns:a16="http://schemas.microsoft.com/office/drawing/2014/main" id="{ABA32F4A-C343-47DC-A378-D54F9CEB4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803" y="4793433"/>
            <a:ext cx="6976509" cy="190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Введение в построение нейронной сети прямого распространения (Feedforward)">
            <a:extLst>
              <a:ext uri="{FF2B5EF4-FFF2-40B4-BE49-F238E27FC236}">
                <a16:creationId xmlns:a16="http://schemas.microsoft.com/office/drawing/2014/main" id="{887AE602-8B95-4EF2-8D3C-C3C4DA01D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315" y="1778191"/>
            <a:ext cx="704850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900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olution neural networks, Part 3 | the morning paper">
            <a:extLst>
              <a:ext uri="{FF2B5EF4-FFF2-40B4-BE49-F238E27FC236}">
                <a16:creationId xmlns:a16="http://schemas.microsoft.com/office/drawing/2014/main" id="{EBBE5939-9C65-4753-8D0F-BA3BB3E18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660" y="1060362"/>
            <a:ext cx="7837340" cy="473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819D-4AF5-4645-85CC-67D16786477C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Self-Attention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Multi-Head 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Feedforward </a:t>
            </a:r>
            <a:r>
              <a:rPr lang="ru-RU" sz="2800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2DED5-DEC8-46FE-9980-2F2D676A272F}"/>
              </a:ext>
            </a:extLst>
          </p:cNvPr>
          <p:cNvSpPr txBox="1"/>
          <p:nvPr/>
        </p:nvSpPr>
        <p:spPr>
          <a:xfrm>
            <a:off x="5379334" y="284823"/>
            <a:ext cx="62213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Остаточные соединения — это метод, при котором входные данные слоя добавляются к его выходу, что позволяет модели «пропускать» некоторые вычисления, улучшая обучаемость.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63BBF1-8DDE-48EC-8C72-4480BB665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516" y="5384092"/>
            <a:ext cx="3643133" cy="82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67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9589"/>
            <a:ext cx="10515600" cy="1325563"/>
          </a:xfrm>
        </p:spPr>
        <p:txBody>
          <a:bodyPr/>
          <a:lstStyle/>
          <a:p>
            <a:r>
              <a:rPr lang="en-US" dirty="0"/>
              <a:t>Transformers</a:t>
            </a:r>
            <a:endParaRPr lang="ru-RU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3FAA7FD-07BA-4F95-AACB-923B0D865852}"/>
              </a:ext>
            </a:extLst>
          </p:cNvPr>
          <p:cNvSpPr txBox="1">
            <a:spLocks/>
          </p:cNvSpPr>
          <p:nvPr/>
        </p:nvSpPr>
        <p:spPr>
          <a:xfrm>
            <a:off x="252467" y="7843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/>
              <a:t>Энкодер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819D-4AF5-4645-85CC-67D16786477C}"/>
              </a:ext>
            </a:extLst>
          </p:cNvPr>
          <p:cNvSpPr txBox="1"/>
          <p:nvPr/>
        </p:nvSpPr>
        <p:spPr>
          <a:xfrm>
            <a:off x="379070" y="1979308"/>
            <a:ext cx="622139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Self-Attention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Multi-Head Attention</a:t>
            </a:r>
            <a:endParaRPr lang="ru-RU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Feedforward </a:t>
            </a:r>
            <a:r>
              <a:rPr lang="ru-RU" sz="2800" dirty="0"/>
              <a:t>слой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Нормализация и остаточные соединения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Повторение слоев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426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88322F5-9B2C-4E10-A3FB-976A66DCA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274" y="1293803"/>
            <a:ext cx="7390077" cy="197649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793" y="-38063"/>
            <a:ext cx="10515600" cy="1325563"/>
          </a:xfrm>
        </p:spPr>
        <p:txBody>
          <a:bodyPr/>
          <a:lstStyle/>
          <a:p>
            <a:r>
              <a:rPr lang="en-US" dirty="0"/>
              <a:t>Basics of Convolutional Neural Network</a:t>
            </a:r>
            <a:r>
              <a:rPr lang="ru-RU" dirty="0"/>
              <a:t>(</a:t>
            </a:r>
            <a:r>
              <a:rPr lang="en-US" dirty="0"/>
              <a:t>CNN</a:t>
            </a:r>
            <a:r>
              <a:rPr lang="ru-RU" dirty="0"/>
              <a:t>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793" y="1212859"/>
            <a:ext cx="467584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CNN используются для анализа изображений путем извлечения ключевых признаков.</a:t>
            </a:r>
          </a:p>
          <a:p>
            <a:r>
              <a:rPr lang="ru-RU" dirty="0"/>
              <a:t>Свертка</a:t>
            </a:r>
            <a:endParaRPr lang="en-US" dirty="0"/>
          </a:p>
          <a:p>
            <a:r>
              <a:rPr lang="ru-RU" dirty="0"/>
              <a:t>Функция активации</a:t>
            </a:r>
            <a:endParaRPr lang="en-US" dirty="0"/>
          </a:p>
          <a:p>
            <a:r>
              <a:rPr lang="en-US" dirty="0"/>
              <a:t>Pulling</a:t>
            </a:r>
            <a:endParaRPr lang="ru-RU" dirty="0"/>
          </a:p>
          <a:p>
            <a:r>
              <a:rPr lang="ru-RU" dirty="0"/>
              <a:t>Полностью связанный слой</a:t>
            </a:r>
            <a:endParaRPr lang="en-US" dirty="0"/>
          </a:p>
          <a:p>
            <a:r>
              <a:rPr lang="ru-RU" dirty="0"/>
              <a:t>Выходной слой</a:t>
            </a:r>
            <a:endParaRPr lang="en-US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30FC7B-7CE5-4F61-8407-70386682D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923" y="3626004"/>
            <a:ext cx="7390077" cy="275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90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4D3C4-5B66-403A-9694-6B093C52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098" y="-125311"/>
            <a:ext cx="10515600" cy="1325563"/>
          </a:xfrm>
        </p:spPr>
        <p:txBody>
          <a:bodyPr/>
          <a:lstStyle/>
          <a:p>
            <a:r>
              <a:rPr lang="en-US" dirty="0"/>
              <a:t>Contrastive Pre-training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6B2E0-0466-466B-A6E0-4D72C59C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2345" y="991908"/>
            <a:ext cx="50505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Похожие элементы располагаются ближе друг к другу, а разные элементы располагаются дальше друг от друга.</a:t>
            </a:r>
            <a:endParaRPr lang="en-US" dirty="0"/>
          </a:p>
        </p:txBody>
      </p:sp>
      <p:sp>
        <p:nvSpPr>
          <p:cNvPr id="4" name="AutoShape 2" descr="lenet architecture">
            <a:extLst>
              <a:ext uri="{FF2B5EF4-FFF2-40B4-BE49-F238E27FC236}">
                <a16:creationId xmlns:a16="http://schemas.microsoft.com/office/drawing/2014/main" id="{5231B3FC-E119-443B-A235-B661F293D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 descr="Exploring Contrastive Learning Techniques: CLIP, CLAP, Audio CLIP and  InfoNCE | by Jyoti Dabass, Ph.D. | GoPenAI">
            <a:extLst>
              <a:ext uri="{FF2B5EF4-FFF2-40B4-BE49-F238E27FC236}">
                <a16:creationId xmlns:a16="http://schemas.microsoft.com/office/drawing/2014/main" id="{02249015-8DEE-4B44-9F0B-4CD30A7E8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53" y="2929283"/>
            <a:ext cx="8932164" cy="375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2A3D2F-2441-444B-A2B1-5FD47583E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790" y="1797118"/>
            <a:ext cx="3883091" cy="9273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FC236D9-1DC2-4BDE-B981-66944515DF53}"/>
              </a:ext>
            </a:extLst>
          </p:cNvPr>
          <p:cNvSpPr txBox="1"/>
          <p:nvPr/>
        </p:nvSpPr>
        <p:spPr>
          <a:xfrm>
            <a:off x="7463790" y="122292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Contrastive Loss - </a:t>
            </a:r>
            <a:r>
              <a:rPr lang="en-US" dirty="0" err="1"/>
              <a:t>InfoNCE</a:t>
            </a:r>
            <a:r>
              <a:rPr lang="en-US" dirty="0"/>
              <a:t> Loss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8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Матрица поэлементных cosine similarity между парами векторных репрезентаций изображений и текстовых описаний">
            <a:extLst>
              <a:ext uri="{FF2B5EF4-FFF2-40B4-BE49-F238E27FC236}">
                <a16:creationId xmlns:a16="http://schemas.microsoft.com/office/drawing/2014/main" id="{72484B86-0BC2-4E05-89AA-CE84ABCD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5" y="123092"/>
            <a:ext cx="9133841" cy="632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212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артина. Дарт Вейдер убивает своего сына">
            <a:extLst>
              <a:ext uri="{FF2B5EF4-FFF2-40B4-BE49-F238E27FC236}">
                <a16:creationId xmlns:a16="http://schemas.microsoft.com/office/drawing/2014/main" id="{6A904A41-E1F2-468A-B431-021D0904A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456" y="1233488"/>
            <a:ext cx="4757180" cy="317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D46CE0-A632-45CA-8F0B-C35E8C334A6C}"/>
              </a:ext>
            </a:extLst>
          </p:cNvPr>
          <p:cNvSpPr txBox="1"/>
          <p:nvPr/>
        </p:nvSpPr>
        <p:spPr>
          <a:xfrm>
            <a:off x="7561767" y="4407028"/>
            <a:ext cx="4496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Картина. </a:t>
            </a:r>
            <a:r>
              <a:rPr lang="ru-RU" dirty="0" err="1"/>
              <a:t>Дарт</a:t>
            </a:r>
            <a:r>
              <a:rPr lang="ru-RU" dirty="0"/>
              <a:t> </a:t>
            </a:r>
            <a:r>
              <a:rPr lang="ru-RU" dirty="0" err="1"/>
              <a:t>Вейдер</a:t>
            </a:r>
            <a:r>
              <a:rPr lang="ru-RU" dirty="0"/>
              <a:t> убивает своего сына.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8B3613-6184-4859-9EAB-52E0F5FC4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64" y="399198"/>
            <a:ext cx="6725589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06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B5392A-0F44-4B4D-A342-9B541D11A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070" y="133866"/>
            <a:ext cx="8468873" cy="659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65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DAFDB3-F5FE-4E18-B7C2-CA5758AB1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77" y="2377441"/>
            <a:ext cx="11632839" cy="410191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DEA57-5D38-4D6C-846C-EB80AE02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-92075"/>
            <a:ext cx="10515600" cy="1325563"/>
          </a:xfrm>
        </p:spPr>
        <p:txBody>
          <a:bodyPr/>
          <a:lstStyle/>
          <a:p>
            <a:r>
              <a:rPr lang="en-US" dirty="0"/>
              <a:t>What is CLIP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7ED005-A166-40A1-BA69-91D8A2D71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984" y="1233488"/>
            <a:ext cx="11789664" cy="4351338"/>
          </a:xfrm>
        </p:spPr>
        <p:txBody>
          <a:bodyPr/>
          <a:lstStyle/>
          <a:p>
            <a:r>
              <a:rPr lang="en-US" dirty="0"/>
              <a:t>CLIP (Contrastive Language–Image Pretraining) </a:t>
            </a:r>
            <a:r>
              <a:rPr lang="ru-RU" dirty="0"/>
              <a:t>модель машинного обучения от </a:t>
            </a:r>
            <a:r>
              <a:rPr lang="ru-RU" dirty="0" err="1"/>
              <a:t>OpenAI</a:t>
            </a:r>
            <a:r>
              <a:rPr lang="ru-RU" dirty="0"/>
              <a:t>, которая связывает текст и изображения с использованием подхода контрастного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1199706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E362F-BE2B-41AD-B6A1-885F6122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-82931"/>
            <a:ext cx="10515600" cy="1325563"/>
          </a:xfrm>
        </p:spPr>
        <p:txBody>
          <a:bodyPr/>
          <a:lstStyle/>
          <a:p>
            <a:r>
              <a:rPr lang="en-US" dirty="0"/>
              <a:t>Model</a:t>
            </a:r>
            <a:r>
              <a:rPr lang="ru-RU" dirty="0"/>
              <a:t> </a:t>
            </a:r>
            <a:r>
              <a:rPr lang="en-US" dirty="0"/>
              <a:t>X-CLIP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36D8E9-E4A2-42A6-8E37-461F8E86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68" y="913077"/>
            <a:ext cx="10515600" cy="4351338"/>
          </a:xfrm>
        </p:spPr>
        <p:txBody>
          <a:bodyPr/>
          <a:lstStyle/>
          <a:p>
            <a:pPr algn="just"/>
            <a:r>
              <a:rPr lang="ru-RU" dirty="0"/>
              <a:t>X-CLIP — это расширение CLIP, адаптированное для обработки видео. Вместо обработки отдельных изображений, X-CLIP работает с видеоконтентом, что позволяет моделям понимать и связывать текстовые описания с динамическими визуальными данными.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45A3B9-3228-499D-B301-AEAE0A075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10" y="2626180"/>
            <a:ext cx="9883563" cy="405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463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BFA06-2311-400F-B557-EFE3242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72232"/>
            <a:ext cx="10515600" cy="1325563"/>
          </a:xfrm>
        </p:spPr>
        <p:txBody>
          <a:bodyPr/>
          <a:lstStyle/>
          <a:p>
            <a:r>
              <a:rPr lang="en-US" dirty="0"/>
              <a:t>Application of the model</a:t>
            </a:r>
            <a:r>
              <a:rPr lang="ru-RU" dirty="0"/>
              <a:t> </a:t>
            </a:r>
            <a:r>
              <a:rPr lang="en-US" dirty="0"/>
              <a:t>X-CLIP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5A46A8-40D4-434B-84B6-C7F4BEEF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53331"/>
            <a:ext cx="822911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Анализ и поиск в видео</a:t>
            </a:r>
          </a:p>
          <a:p>
            <a:pPr marL="0" indent="0">
              <a:buNone/>
            </a:pPr>
            <a:r>
              <a:rPr lang="ru-RU" dirty="0"/>
              <a:t>Создание аннотации для видео</a:t>
            </a:r>
          </a:p>
          <a:p>
            <a:pPr marL="0" indent="0">
              <a:buNone/>
            </a:pPr>
            <a:r>
              <a:rPr lang="ru-RU" dirty="0"/>
              <a:t>Создание видео из текстового описания</a:t>
            </a:r>
          </a:p>
          <a:p>
            <a:pPr marL="0" indent="0">
              <a:buNone/>
            </a:pPr>
            <a:r>
              <a:rPr lang="ru-RU" dirty="0"/>
              <a:t>Классификация поведения по текстовому описанию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230261-F071-4A8F-8450-F64FED284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754" y="950813"/>
            <a:ext cx="5283174" cy="14901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C8547C-4FA6-4F0A-B30D-5DBA26B21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373" y="3697996"/>
            <a:ext cx="6430030" cy="180218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BA73BEE-EA20-44A1-9C43-16CB39AE2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50" y="3272316"/>
            <a:ext cx="4983940" cy="350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3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3DFFC1-0729-4493-B3CB-061EBE20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7" y="1417321"/>
            <a:ext cx="6490153" cy="370007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BAAD32-7DE0-4B29-98C6-4818BAA8F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1" y="294357"/>
            <a:ext cx="4523678" cy="62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12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D7513-63B2-49C8-B733-C2093FA6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Классифицирование ненормального поведения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883109-9345-4337-9E13-C40BF768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" y="16313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Prompts for classify behavior: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Normal: "calm pedestrian", "social interaction", "street vendor", "public transportation user", "recreational activity“, "loitering", "street performer", "protesting"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Abnormal: "physical altercation", "aggressive gestures", "property damage", "harassment"</a:t>
            </a:r>
          </a:p>
        </p:txBody>
      </p:sp>
    </p:spTree>
    <p:extLst>
      <p:ext uri="{BB962C8B-B14F-4D97-AF65-F5344CB8AC3E}">
        <p14:creationId xmlns:p14="http://schemas.microsoft.com/office/powerpoint/2010/main" val="2193427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D7513-63B2-49C8-B733-C2093FA61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Классифицирование ненормального поведения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883109-9345-4337-9E13-C40BF768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" y="16313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Подсказки для классификации поведения: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Нормальное: «спокойный пешеход», «социальное взаимодействие», «уличный торговец», «пользователь общественного транспорта», «развлекательная деятельность», «праздношатание», «уличный артист», «протест»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Ненормальное: «физическая стычка», «агрессивные жесты», «порча имущества», «преследование»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6859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1282</TotalTime>
  <Words>649</Words>
  <Application>Microsoft Office PowerPoint</Application>
  <PresentationFormat>Широкоэкранный</PresentationFormat>
  <Paragraphs>164</Paragraphs>
  <Slides>34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Тема Office</vt:lpstr>
      <vt:lpstr>Распознавание агрессивного поведения на улицах с помощью модели X-CLIP</vt:lpstr>
      <vt:lpstr>Основные этапы работы системы</vt:lpstr>
      <vt:lpstr>Основные этапы работы системы</vt:lpstr>
      <vt:lpstr>Основные этапы работы системы</vt:lpstr>
      <vt:lpstr>Основные этапы работы системы</vt:lpstr>
      <vt:lpstr>Основы трансформеров (Transformers)</vt:lpstr>
      <vt:lpstr>Transformers</vt:lpstr>
      <vt:lpstr>Transformers</vt:lpstr>
      <vt:lpstr>Transformers</vt:lpstr>
      <vt:lpstr>Transformers</vt:lpstr>
      <vt:lpstr>Transformers</vt:lpstr>
      <vt:lpstr>Transformers</vt:lpstr>
      <vt:lpstr>Transformers</vt:lpstr>
      <vt:lpstr>Self-Attention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Transformers</vt:lpstr>
      <vt:lpstr>Transformers</vt:lpstr>
      <vt:lpstr>Transformers</vt:lpstr>
      <vt:lpstr>Transformers</vt:lpstr>
      <vt:lpstr>Basics of Convolutional Neural Network(CNN)</vt:lpstr>
      <vt:lpstr>Contrastive Pre-training</vt:lpstr>
      <vt:lpstr>Презентация PowerPoint</vt:lpstr>
      <vt:lpstr>Презентация PowerPoint</vt:lpstr>
      <vt:lpstr>Презентация PowerPoint</vt:lpstr>
      <vt:lpstr>What is CLIP</vt:lpstr>
      <vt:lpstr>Model X-CLIP</vt:lpstr>
      <vt:lpstr>Application of the model X-CLIP</vt:lpstr>
      <vt:lpstr>Презентация PowerPoint</vt:lpstr>
      <vt:lpstr>Классифицирование ненормального поведения</vt:lpstr>
      <vt:lpstr>Классифицирование ненормального поведения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 (CNN) and X-CLIP</dc:title>
  <dc:creator>Каспшицкий Алексей</dc:creator>
  <cp:lastModifiedBy>Каспшицкий Алексей</cp:lastModifiedBy>
  <cp:revision>87</cp:revision>
  <dcterms:created xsi:type="dcterms:W3CDTF">2024-12-01T02:15:39Z</dcterms:created>
  <dcterms:modified xsi:type="dcterms:W3CDTF">2024-12-19T08:35:37Z</dcterms:modified>
</cp:coreProperties>
</file>